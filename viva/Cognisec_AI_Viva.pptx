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>
  <p:sldMasterIdLst>
    <p:sldMasterId xmlns:r="http://schemas.openxmlformats.org/officeDocument/2006/relationships" id="2147483648" r:id="rId1"/>
  </p:sldMasterIdLst>
  <p:sldIdLst>
    <p:sldId xmlns:r="http://schemas.openxmlformats.org/officeDocument/2006/relationships" id="257" r:id="rId2"/>
    <p:sldId xmlns:r="http://schemas.openxmlformats.org/officeDocument/2006/relationships" id="258" r:id="rId3"/>
    <p:sldId xmlns:r="http://schemas.openxmlformats.org/officeDocument/2006/relationships" id="259" r:id="rId4"/>
    <p:sldId xmlns:r="http://schemas.openxmlformats.org/officeDocument/2006/relationships" id="260" r:id="rId5"/>
    <p:sldId xmlns:r="http://schemas.openxmlformats.org/officeDocument/2006/relationships" id="261" r:id="rId6"/>
    <p:sldId xmlns:r="http://schemas.openxmlformats.org/officeDocument/2006/relationships" id="262" r:id="rId7"/>
    <p:sldId xmlns:r="http://schemas.openxmlformats.org/officeDocument/2006/relationships" id="263" r:id="rId8"/>
    <p:sldId xmlns:r="http://schemas.openxmlformats.org/officeDocument/2006/relationships" id="264" r:id="rId9"/>
    <p:sldId xmlns:r="http://schemas.openxmlformats.org/officeDocument/2006/relationships" id="265" r:id="rId10"/>
    <p:sldId xmlns:r="http://schemas.openxmlformats.org/officeDocument/2006/relationships" id="266" r:id="rId11"/>
    <p:sldId xmlns:r="http://schemas.openxmlformats.org/officeDocument/2006/relationships" id="267" r:id="rId12"/>
    <p:sldId xmlns:r="http://schemas.openxmlformats.org/officeDocument/2006/relationships" id="268" r:id="rId13"/>
    <p:sldId xmlns:r="http://schemas.openxmlformats.org/officeDocument/2006/relationships" id="269" r:id="rId14"/>
    <p:sldId xmlns:r="http://schemas.openxmlformats.org/officeDocument/2006/relationships" id="270" r:id="rId15"/>
    <p:sldId xmlns:r="http://schemas.openxmlformats.org/officeDocument/2006/relationships" id="271" r:id="rId16"/>
    <p:sldId xmlns:r="http://schemas.openxmlformats.org/officeDocument/2006/relationships" id="272" r:id="rId17"/>
    <p:sldId xmlns:r="http://schemas.openxmlformats.org/officeDocument/2006/relationships" id="273" r:id="rId18"/>
    <p:sldId xmlns:r="http://schemas.openxmlformats.org/officeDocument/2006/relationships" id="274" r:id="rId19"/>
    <p:sldId xmlns:r="http://schemas.openxmlformats.org/officeDocument/2006/relationships" id="275" r:id="rId20"/>
  </p:sldIdLst>
  <p:sldSz cx="12192000" cy="6858000" type="screen16x9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  <Relationship Id="rId3" Type="http://schemas.openxmlformats.org/officeDocument/2006/relationships/slide" Target="slides/slide2.xml"/>
  <Relationship Id="rId4" Type="http://schemas.openxmlformats.org/officeDocument/2006/relationships/slide" Target="slides/slide3.xml"/>
  <Relationship Id="rId5" Type="http://schemas.openxmlformats.org/officeDocument/2006/relationships/slide" Target="slides/slide4.xml"/>
  <Relationship Id="rId6" Type="http://schemas.openxmlformats.org/officeDocument/2006/relationships/slide" Target="slides/slide5.xml"/>
  <Relationship Id="rId7" Type="http://schemas.openxmlformats.org/officeDocument/2006/relationships/slide" Target="slides/slide6.xml"/>
  <Relationship Id="rId8" Type="http://schemas.openxmlformats.org/officeDocument/2006/relationships/slide" Target="slides/slide7.xml"/>
  <Relationship Id="rId9" Type="http://schemas.openxmlformats.org/officeDocument/2006/relationships/slide" Target="slides/slide8.xml"/>
  <Relationship Id="rId10" Type="http://schemas.openxmlformats.org/officeDocument/2006/relationships/slide" Target="slides/slide9.xml"/>
  <Relationship Id="rId11" Type="http://schemas.openxmlformats.org/officeDocument/2006/relationships/slide" Target="slides/slide10.xml"/>
  <Relationship Id="rId12" Type="http://schemas.openxmlformats.org/officeDocument/2006/relationships/slide" Target="slides/slide11.xml"/>
  <Relationship Id="rId13" Type="http://schemas.openxmlformats.org/officeDocument/2006/relationships/slide" Target="slides/slide12.xml"/>
  <Relationship Id="rId14" Type="http://schemas.openxmlformats.org/officeDocument/2006/relationships/slide" Target="slides/slide13.xml"/>
  <Relationship Id="rId15" Type="http://schemas.openxmlformats.org/officeDocument/2006/relationships/slide" Target="slides/slide14.xml"/>
  <Relationship Id="rId16" Type="http://schemas.openxmlformats.org/officeDocument/2006/relationships/slide" Target="slides/slide15.xml"/>
  <Relationship Id="rId17" Type="http://schemas.openxmlformats.org/officeDocument/2006/relationships/slide" Target="slides/slide16.xml"/>
  <Relationship Id="rId18" Type="http://schemas.openxmlformats.org/officeDocument/2006/relationships/slide" Target="slides/slide17.xml"/>
  <Relationship Id="rId19" Type="http://schemas.openxmlformats.org/officeDocument/2006/relationships/slide" Target="slides/slide18.xml"/>
  <Relationship Id="rId20" Type="http://schemas.openxmlformats.org/officeDocument/2006/relationships/slide" Target="slides/slide19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theme" Target="../theme/theme1.xml"/>
</Relationships>
</file>

<file path=ppt/slideMasters/slideMaster1.xml><?xml version="1.0" encoding="utf-8"?>
<p:sldMaster xmlns:a="http://schemas.openxmlformats.org/drawingml/2006/main" xmlns:p="http://schemas.openxmlformats.org/presentationml/2006/main">
  <p:cSld>
    <p:bg>
      <p:bgRef idx="1001">
        <a:schemeClr val="lt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0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2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1.png"/>
</Relationships>
</file>

<file path=ppt/slides/_rels/slide13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4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5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2.png"/>
</Relationships>
</file>

<file path=ppt/slides/_rels/slide16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  <Relationship Id="rId2" Type="http://schemas.openxmlformats.org/officeDocument/2006/relationships/image" Target="../media/image3.png"/>
</Relationships>
</file>

<file path=ppt/slides/_rels/slide17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8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_rels/slide19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85800" y="457200"/>
            <a:ext cx="1082040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/>
          <p:nvPr/>
        </p:nvSpPr>
        <p:spPr>
          <a:xfrm>
            <a:off x="685800" y="609600"/>
            <a:ext cx="10820400" cy="8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F172A"/>
                </a:solidFill>
              </a:rPr>
              <a:t>Cognisec AI: Network Behaviour Fingerprinting</a:t>
            </a:r>
          </a:p>
        </p:txBody>
      </p:sp>
      <p:sp>
        <p:nvSpPr>
          <p:cNvPr id="4" name="Content"/>
          <p:cNvSpPr/>
          <p:nvPr/>
        </p:nvSpPr>
        <p:spPr>
          <a:xfrm>
            <a:off x="685800" y="1600000"/>
            <a:ext cx="10500000" cy="4600000"/>
          </a:xfrm>
          <a:prstGeom prst="rect">
            <a:avLst/>
          </a:prstGeom>
        </p:spPr>
        <p:txBody>
          <a:bodyPr/>
          <a:lstStyle/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An Experimental Comparison of Supervised XGBoost and Variational Autoencoders for Unseen Attack Detection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Candidate: Santhoskrishna | Academic Research Project Defense | October 2026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Dataset: Authentic CICIDS2017 Benchmark Flow Records (757,646 Total Flows)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Core Paradigms: Discriminative Boundary Learning (XGBoost) vs. Benign-Only Manifold Learning (PyTorch VAE)</a:t>
            </a:r>
          </a:p>
        </p:txBody>
      </p:sp>
      <p:sp>
        <p:nvSpPr>
          <p:cNvPr id="6" name="Footer"/>
          <p:cNvSpPr/>
          <p:nvPr/>
        </p:nvSpPr>
        <p:spPr>
          <a:xfrm>
            <a:off x="685800" y="6350000"/>
            <a:ext cx="10820400" cy="3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94A3B8"/>
                </a:solidFill>
              </a:rPr>
              <a:t>Cognisec AI Research Defense | Slide 1 of 19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85800" y="457200"/>
            <a:ext cx="1082040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/>
          <p:nvPr/>
        </p:nvSpPr>
        <p:spPr>
          <a:xfrm>
            <a:off x="685800" y="609600"/>
            <a:ext cx="10820400" cy="8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F172A"/>
                </a:solidFill>
              </a:rPr>
              <a:t>Motivation &amp; The Unseen Attack Problem</a:t>
            </a:r>
          </a:p>
        </p:txBody>
      </p:sp>
      <p:sp>
        <p:nvSpPr>
          <p:cNvPr id="4" name="Content"/>
          <p:cNvSpPr/>
          <p:nvPr/>
        </p:nvSpPr>
        <p:spPr>
          <a:xfrm>
            <a:off x="685800" y="1600000"/>
            <a:ext cx="10500000" cy="4600000"/>
          </a:xfrm>
          <a:prstGeom prst="rect">
            <a:avLst/>
          </a:prstGeom>
        </p:spPr>
        <p:txBody>
          <a:bodyPr/>
          <a:lstStyle/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Supervised intrusion detection models achieve &gt;99% accuracy on familiar signatures.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Closed-world assumption: models fail catastrophically when encountering novel attack mechanics.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Academic literature flaw: random train/test splits cause severe signature contamination across partitions.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Research Question: How do supervised and unsupervised models behave under a strictly isolated held-out attack family protocol?</a:t>
            </a:r>
          </a:p>
        </p:txBody>
      </p:sp>
      <p:sp>
        <p:nvSpPr>
          <p:cNvPr id="6" name="Footer"/>
          <p:cNvSpPr/>
          <p:nvPr/>
        </p:nvSpPr>
        <p:spPr>
          <a:xfrm>
            <a:off x="685800" y="6350000"/>
            <a:ext cx="10820400" cy="3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94A3B8"/>
                </a:solidFill>
              </a:rPr>
              <a:t>Cognisec AI Research Defense | Slide 2 of 19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85800" y="457200"/>
            <a:ext cx="1082040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/>
          <p:nvPr/>
        </p:nvSpPr>
        <p:spPr>
          <a:xfrm>
            <a:off x="685800" y="609600"/>
            <a:ext cx="10820400" cy="8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F172A"/>
                </a:solidFill>
              </a:rPr>
              <a:t>Research Objectives</a:t>
            </a:r>
          </a:p>
        </p:txBody>
      </p:sp>
      <p:sp>
        <p:nvSpPr>
          <p:cNvPr id="4" name="Content"/>
          <p:cNvSpPr/>
          <p:nvPr/>
        </p:nvSpPr>
        <p:spPr>
          <a:xfrm>
            <a:off x="685800" y="1600000"/>
            <a:ext cx="10500000" cy="4600000"/>
          </a:xfrm>
          <a:prstGeom prst="rect">
            <a:avLst/>
          </a:prstGeom>
        </p:spPr>
        <p:txBody>
          <a:bodyPr/>
          <a:lstStyle/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1. Formulate a reproducible, leakage-controlled data pipeline on authentic CICIDS2017 flow records.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2. Eliminate socket-identity leakage (source/destination IPs, ports, and timestamps purged).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3. Rigorously benchmark Supervised XGBoost against a Tabular PyTorch VAE on Known Attacks (Exp A) and Held-Out Families (Exp B).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4. Quantify operational trade-offs: inference throughput, false-positive constraints, paired statistical significance, and complementarity.</a:t>
            </a:r>
          </a:p>
        </p:txBody>
      </p:sp>
      <p:sp>
        <p:nvSpPr>
          <p:cNvPr id="6" name="Footer"/>
          <p:cNvSpPr/>
          <p:nvPr/>
        </p:nvSpPr>
        <p:spPr>
          <a:xfrm>
            <a:off x="685800" y="6350000"/>
            <a:ext cx="10820400" cy="3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94A3B8"/>
                </a:solidFill>
              </a:rPr>
              <a:t>Cognisec AI Research Defense | Slide 3 of 19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85800" y="457200"/>
            <a:ext cx="1082040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/>
          <p:nvPr/>
        </p:nvSpPr>
        <p:spPr>
          <a:xfrm>
            <a:off x="685800" y="609600"/>
            <a:ext cx="10820400" cy="8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F172A"/>
                </a:solidFill>
              </a:rPr>
              <a:t>CICIDS2017 Benchmark Dataset Provenance</a:t>
            </a:r>
          </a:p>
        </p:txBody>
      </p:sp>
      <p:sp>
        <p:nvSpPr>
          <p:cNvPr id="4" name="Content"/>
          <p:cNvSpPr/>
          <p:nvPr/>
        </p:nvSpPr>
        <p:spPr>
          <a:xfrm>
            <a:off x="685800" y="1600000"/>
            <a:ext cx="10500000" cy="4600000"/>
          </a:xfrm>
          <a:prstGeom prst="rect">
            <a:avLst/>
          </a:prstGeom>
        </p:spPr>
        <p:txBody>
          <a:bodyPr/>
          <a:lstStyle/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Created by Sharafaldin, Lashkari, &amp; Ghorbani (2018) at Canadian Institute for Cybersecurity (UNB).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Captured over 5 consecutive days (July 3-7, 2017) across an attack-and-victim testbed network.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Contains 8 authentic PCAP-derived flow CSV files generated by CICFlowMeter.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Preserves 12 distinct attack families: DoS (Hulk, GoldenEye, Slowloris), DDoS, PortScan, Brute Force, Web Attacks, Botnet, Infiltration.</a:t>
            </a:r>
          </a:p>
        </p:txBody>
      </p:sp>
      <p:sp>
        <p:nvSpPr>
          <p:cNvPr id="6" name="Footer"/>
          <p:cNvSpPr/>
          <p:nvPr/>
        </p:nvSpPr>
        <p:spPr>
          <a:xfrm>
            <a:off x="685800" y="6350000"/>
            <a:ext cx="10820400" cy="3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94A3B8"/>
                </a:solidFill>
              </a:rPr>
              <a:t>Cognisec AI Research Defense | Slide 4 of 19</a:t>
            </a:r>
          </a:p>
        </p:txBody>
      </p:sp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85800" y="457200"/>
            <a:ext cx="1082040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/>
          <p:nvPr/>
        </p:nvSpPr>
        <p:spPr>
          <a:xfrm>
            <a:off x="685800" y="609600"/>
            <a:ext cx="10820400" cy="8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F172A"/>
                </a:solidFill>
              </a:rPr>
              <a:t>Data Preprocessing &amp; Leakage Controls</a:t>
            </a:r>
          </a:p>
        </p:txBody>
      </p:sp>
      <p:sp>
        <p:nvSpPr>
          <p:cNvPr id="4" name="Content"/>
          <p:cNvSpPr/>
          <p:nvPr/>
        </p:nvSpPr>
        <p:spPr>
          <a:xfrm>
            <a:off x="685800" y="1600000"/>
            <a:ext cx="10500000" cy="4600000"/>
          </a:xfrm>
          <a:prstGeom prst="rect">
            <a:avLst/>
          </a:prstGeom>
        </p:spPr>
        <p:txBody>
          <a:bodyPr/>
          <a:lstStyle/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Socket Identity Purge: Source/Dest IPs, Ports, Protocols, and Timestamps removed to prevent network topology memorization.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Feature Selection: Retained exactly 70 clean, finite behavioral statistical flow features.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Non-Finite Value Handling: Inf flow rates capped at upper medians; missing values (0.01%) imputed via training set medians.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Strict Partition Isolation: Scaler statistics and imputation fitted exclusively on training data (persisted in flow_preprocessor.joblib).</a:t>
            </a:r>
          </a:p>
        </p:txBody>
      </p:sp>
      <p:sp>
        <p:nvSpPr>
          <p:cNvPr id="6" name="Footer"/>
          <p:cNvSpPr/>
          <p:nvPr/>
        </p:nvSpPr>
        <p:spPr>
          <a:xfrm>
            <a:off x="685800" y="6350000"/>
            <a:ext cx="10820400" cy="3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94A3B8"/>
                </a:solidFill>
              </a:rPr>
              <a:t>Cognisec AI Research Defense | Slide 5 of 19</a:t>
            </a:r>
          </a:p>
        </p:txBody>
      </p:sp>
    </p:spTree>
  </p:cSld>
</p:sld>
</file>

<file path=ppt/slides/slide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85800" y="457200"/>
            <a:ext cx="1082040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/>
          <p:nvPr/>
        </p:nvSpPr>
        <p:spPr>
          <a:xfrm>
            <a:off x="685800" y="609600"/>
            <a:ext cx="10820400" cy="8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F172A"/>
                </a:solidFill>
              </a:rPr>
              <a:t>Experimental Design &amp; Protocol</a:t>
            </a:r>
          </a:p>
        </p:txBody>
      </p:sp>
      <p:sp>
        <p:nvSpPr>
          <p:cNvPr id="4" name="Content"/>
          <p:cNvSpPr/>
          <p:nvPr/>
        </p:nvSpPr>
        <p:spPr>
          <a:xfrm>
            <a:off x="685800" y="1600000"/>
            <a:ext cx="10500000" cy="4600000"/>
          </a:xfrm>
          <a:prstGeom prst="rect">
            <a:avLst/>
          </a:prstGeom>
        </p:spPr>
        <p:txBody>
          <a:bodyPr/>
          <a:lstStyle/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Experiment A (Known Attacks): 125,088 flows (40,000 Benign + 85,088 Known Attacks: DoS, PortScan, Brute Force).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Experiment B (Held-Out Attacks): 172,209 flows (40,000 Benign control + 132,209 Held-Out Attacks: DDoS, Web Attack, Bot, Infiltration).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Shared Benign Baseline: Exactly 40,000 identical benign flows serve as control across both experiments.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Reconciliation Audit: 257,297 unique physical test records yield 297,297 total benchmark evaluation decisions.</a:t>
            </a:r>
          </a:p>
        </p:txBody>
      </p:sp>
      <p:sp>
        <p:nvSpPr>
          <p:cNvPr id="6" name="Footer"/>
          <p:cNvSpPr/>
          <p:nvPr/>
        </p:nvSpPr>
        <p:spPr>
          <a:xfrm>
            <a:off x="685800" y="6350000"/>
            <a:ext cx="10820400" cy="3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94A3B8"/>
                </a:solidFill>
              </a:rPr>
              <a:t>Cognisec AI Research Defense | Slide 6 of 19</a:t>
            </a:r>
          </a:p>
        </p:txBody>
      </p:sp>
    </p:spTree>
  </p:cSld>
</p:sld>
</file>

<file path=ppt/slides/slide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85800" y="457200"/>
            <a:ext cx="1082040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/>
          <p:nvPr/>
        </p:nvSpPr>
        <p:spPr>
          <a:xfrm>
            <a:off x="685800" y="609600"/>
            <a:ext cx="10820400" cy="8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F172A"/>
                </a:solidFill>
              </a:rPr>
              <a:t>Supervised XGBoost: Configuration</a:t>
            </a:r>
          </a:p>
        </p:txBody>
      </p:sp>
      <p:sp>
        <p:nvSpPr>
          <p:cNvPr id="4" name="Content"/>
          <p:cNvSpPr/>
          <p:nvPr/>
        </p:nvSpPr>
        <p:spPr>
          <a:xfrm>
            <a:off x="685800" y="1600000"/>
            <a:ext cx="10500000" cy="4600000"/>
          </a:xfrm>
          <a:prstGeom prst="rect">
            <a:avLst/>
          </a:prstGeom>
        </p:spPr>
        <p:txBody>
          <a:bodyPr/>
          <a:lstStyle/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Algorithm: Extreme Gradient Boosted Trees (XGBClassifier) with histogram-based tree construction (tree_method='hist').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Hyperparameters: 200 estimators, max_depth=6, learning_rate=0.10, subsample=0.80, colsample_bytree=0.80.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Loss Function: Binary logistic log-loss with 15-round early stopping on validation partition.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Decision Boundary: Probability threshold calibrated at 0.52 via validation grid search to maximize F1-score.</a:t>
            </a:r>
          </a:p>
        </p:txBody>
      </p:sp>
      <p:sp>
        <p:nvSpPr>
          <p:cNvPr id="6" name="Footer"/>
          <p:cNvSpPr/>
          <p:nvPr/>
        </p:nvSpPr>
        <p:spPr>
          <a:xfrm>
            <a:off x="685800" y="6350000"/>
            <a:ext cx="10820400" cy="3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94A3B8"/>
                </a:solidFill>
              </a:rPr>
              <a:t>Cognisec AI Research Defense | Slide 7 of 19</a:t>
            </a:r>
          </a:p>
        </p:txBody>
      </p:sp>
    </p:spTree>
  </p:cSld>
</p:sld>
</file>

<file path=ppt/slides/slide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85800" y="457200"/>
            <a:ext cx="1082040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/>
          <p:nvPr/>
        </p:nvSpPr>
        <p:spPr>
          <a:xfrm>
            <a:off x="685800" y="609600"/>
            <a:ext cx="10820400" cy="8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F172A"/>
                </a:solidFill>
              </a:rPr>
              <a:t>Tabular PyTorch VAE: Architecture</a:t>
            </a:r>
          </a:p>
        </p:txBody>
      </p:sp>
      <p:sp>
        <p:nvSpPr>
          <p:cNvPr id="4" name="Content"/>
          <p:cNvSpPr/>
          <p:nvPr/>
        </p:nvSpPr>
        <p:spPr>
          <a:xfrm>
            <a:off x="685800" y="1600000"/>
            <a:ext cx="10500000" cy="4600000"/>
          </a:xfrm>
          <a:prstGeom prst="rect">
            <a:avLst/>
          </a:prstGeom>
        </p:spPr>
        <p:txBody>
          <a:bodyPr/>
          <a:lstStyle/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Input Dimension: 70 continuous behavioral features.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Encoder: Dense layers (70 -&gt; 64 -&gt; 32) with BatchNorm1d and LeakyReLU(0.2) activations.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Latent Space: 16-dimensional Gaussian bottleneck parameterized by mean vector (mu) and log-variance (log_var).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Reparameterization Trick: z = mu + sigma * epsilon, where epsilon ~ N(0, I_16).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Decoder: Symmetric reconstruction network (16 -&gt; 32 -&gt; 64 -&gt; 70).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Loss Formulation: beta-ELBO loss with MSE reconstruction and analytic KL divergence (beta = 0.005).</a:t>
            </a:r>
          </a:p>
        </p:txBody>
      </p:sp>
      <p:sp>
        <p:nvSpPr>
          <p:cNvPr id="6" name="Footer"/>
          <p:cNvSpPr/>
          <p:nvPr/>
        </p:nvSpPr>
        <p:spPr>
          <a:xfrm>
            <a:off x="685800" y="6350000"/>
            <a:ext cx="10820400" cy="3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94A3B8"/>
                </a:solidFill>
              </a:rPr>
              <a:t>Cognisec AI Research Defense | Slide 8 of 19</a:t>
            </a:r>
          </a:p>
        </p:txBody>
      </p:sp>
    </p:spTree>
  </p:cSld>
</p:sld>
</file>

<file path=ppt/slides/slide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85800" y="457200"/>
            <a:ext cx="1082040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/>
          <p:nvPr/>
        </p:nvSpPr>
        <p:spPr>
          <a:xfrm>
            <a:off x="685800" y="609600"/>
            <a:ext cx="10820400" cy="8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F172A"/>
                </a:solidFill>
              </a:rPr>
              <a:t>VAE Benign Training &amp; Anomaly Threshold</a:t>
            </a:r>
          </a:p>
        </p:txBody>
      </p:sp>
      <p:sp>
        <p:nvSpPr>
          <p:cNvPr id="4" name="Content"/>
          <p:cNvSpPr/>
          <p:nvPr/>
        </p:nvSpPr>
        <p:spPr>
          <a:xfrm>
            <a:off x="685800" y="1600000"/>
            <a:ext cx="10500000" cy="4600000"/>
          </a:xfrm>
          <a:prstGeom prst="rect">
            <a:avLst/>
          </a:prstGeom>
        </p:spPr>
        <p:txBody>
          <a:bodyPr/>
          <a:lstStyle/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Benign-Only Formulation: Trained strictly on legitimate network flows without ever observing attack vectors.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Anomaly Metric: Per-flow Mean Squared Reconstruction Error (MSE) across all 70 normalized features.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False-Alarm Ceiling: In operational SOCs, false alarm fatigue is catastrophic (cannot tolerate &gt;1% false positives).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Calibrated Threshold: Set at 99.0th percentile of benign validation flows (tau = 0.330610), strictly bounding baseline FPR at 1.0%.</a:t>
            </a:r>
          </a:p>
        </p:txBody>
      </p:sp>
      <p:sp>
        <p:nvSpPr>
          <p:cNvPr id="6" name="Footer"/>
          <p:cNvSpPr/>
          <p:nvPr/>
        </p:nvSpPr>
        <p:spPr>
          <a:xfrm>
            <a:off x="685800" y="6350000"/>
            <a:ext cx="10820400" cy="3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94A3B8"/>
                </a:solidFill>
              </a:rPr>
              <a:t>Cognisec AI Research Defense | Slide 9 of 19</a:t>
            </a:r>
          </a:p>
        </p:txBody>
      </p:sp>
    </p:spTree>
  </p:cSld>
</p:sld>
</file>

<file path=ppt/slides/slide10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85800" y="457200"/>
            <a:ext cx="1082040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/>
          <p:nvPr/>
        </p:nvSpPr>
        <p:spPr>
          <a:xfrm>
            <a:off x="685800" y="609600"/>
            <a:ext cx="10820400" cy="8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F172A"/>
                </a:solidFill>
              </a:rPr>
              <a:t>Evaluation Metrics &amp; Statistical Rigor</a:t>
            </a:r>
          </a:p>
        </p:txBody>
      </p:sp>
      <p:sp>
        <p:nvSpPr>
          <p:cNvPr id="4" name="Content"/>
          <p:cNvSpPr/>
          <p:nvPr/>
        </p:nvSpPr>
        <p:spPr>
          <a:xfrm>
            <a:off x="685800" y="1600000"/>
            <a:ext cx="10500000" cy="4600000"/>
          </a:xfrm>
          <a:prstGeom prst="rect">
            <a:avLst/>
          </a:prstGeom>
        </p:spPr>
        <p:txBody>
          <a:bodyPr/>
          <a:lstStyle/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Metric Focus: Precision-Recall AUC (PR-AUC), Detection Recall, and False Positive Rate (accuracy is misleading under imbalance).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Strictly Paired Evaluations: Both models evaluate the exact same flow instances (N=125,088 in Exp A; N=172,209 in Exp B).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Inferential Testing: McNemar's paired chi-squared test on discordant classifications (df=1, p &lt; 0.001).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Paired Non-Parametric Bootstrap: 1,000 iterations to derive bias-corrected 95% confidence intervals for metric deltas.</a:t>
            </a:r>
          </a:p>
        </p:txBody>
      </p:sp>
      <p:sp>
        <p:nvSpPr>
          <p:cNvPr id="6" name="Footer"/>
          <p:cNvSpPr/>
          <p:nvPr/>
        </p:nvSpPr>
        <p:spPr>
          <a:xfrm>
            <a:off x="685800" y="6350000"/>
            <a:ext cx="10820400" cy="3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94A3B8"/>
                </a:solidFill>
              </a:rPr>
              <a:t>Cognisec AI Research Defense | Slide 10 of 19</a:t>
            </a:r>
          </a:p>
        </p:txBody>
      </p:sp>
    </p:spTree>
  </p:cSld>
</p:sld>
</file>

<file path=ppt/slides/slide11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85800" y="457200"/>
            <a:ext cx="1082040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/>
          <p:nvPr/>
        </p:nvSpPr>
        <p:spPr>
          <a:xfrm>
            <a:off x="685800" y="609600"/>
            <a:ext cx="10820400" cy="8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F172A"/>
                </a:solidFill>
              </a:rPr>
              <a:t>Experiment A: Known Attack Benchmark Results</a:t>
            </a:r>
          </a:p>
        </p:txBody>
      </p:sp>
      <p:sp>
        <p:nvSpPr>
          <p:cNvPr id="4" name="Content"/>
          <p:cNvSpPr/>
          <p:nvPr/>
        </p:nvSpPr>
        <p:spPr>
          <a:xfrm>
            <a:off x="685800" y="1600000"/>
            <a:ext cx="10500000" cy="4600000"/>
          </a:xfrm>
          <a:prstGeom prst="rect">
            <a:avLst/>
          </a:prstGeom>
        </p:spPr>
        <p:txBody>
          <a:bodyPr/>
          <a:lstStyle/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Supervised XGBoost: Recall 99.99%, Precision 99.95%, PR-AUC 0.99998, FPR 0.0975% (TN 39961, FP 39, FN 8, TP 85080).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Tabular PyTorch VAE: Recall 25.89%, Precision 98.34%, PR-AUC 0.94319, FPR 0.9300% (TN 39628, FP 372, FN 63058, TP 22030).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Statistical Delta: Delta F1 = +0.5898 (95% CI: [0.5859, 0.5934], p &lt; 0.001, McNemar chi2 = 63,305.09).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Conclusion: Supervised boosting is overwhelmingly superior when attack signatures are previously represented in training.</a:t>
            </a:r>
          </a:p>
        </p:txBody>
      </p:sp>
      <p:sp>
        <p:nvSpPr>
          <p:cNvPr id="6" name="Footer"/>
          <p:cNvSpPr/>
          <p:nvPr/>
        </p:nvSpPr>
        <p:spPr>
          <a:xfrm>
            <a:off x="685800" y="6350000"/>
            <a:ext cx="10820400" cy="3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94A3B8"/>
                </a:solidFill>
              </a:rPr>
              <a:t>Cognisec AI Research Defense | Slide 11 of 19</a:t>
            </a:r>
          </a:p>
        </p:txBody>
      </p:sp>
    </p:spTree>
  </p:cSld>
</p:sld>
</file>

<file path=ppt/slides/slide1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85800" y="457200"/>
            <a:ext cx="1082040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/>
          <p:nvPr/>
        </p:nvSpPr>
        <p:spPr>
          <a:xfrm>
            <a:off x="685800" y="609600"/>
            <a:ext cx="10820400" cy="8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F172A"/>
                </a:solidFill>
              </a:rPr>
              <a:t>Experiment B: Held-Out Attack Benchmark Results</a:t>
            </a:r>
          </a:p>
        </p:txBody>
      </p:sp>
      <p:sp>
        <p:nvSpPr>
          <p:cNvPr id="4" name="Content"/>
          <p:cNvSpPr/>
          <p:nvPr/>
        </p:nvSpPr>
        <p:spPr>
          <a:xfrm>
            <a:off x="685800" y="1600000"/>
            <a:ext cx="5800000" cy="4600000"/>
          </a:xfrm>
          <a:prstGeom prst="rect">
            <a:avLst/>
          </a:prstGeom>
        </p:spPr>
        <p:txBody>
          <a:bodyPr/>
          <a:lstStyle/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Supervised XGBoost: Recall 62.50%, Precision 99.95%, PR-AUC 0.99240, FPR 0.0975% (FN 49574, TP 82635).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Tabular PyTorch VAE: Recall 16.60%, Precision 98.33%, PR-AUC 0.98017, FPR 0.9300% (FN 110268, TP 21941).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Statistical Delta: Delta Recall = +0.4591 (95% CI: [0.4562, 0.4619], p &lt; 0.001, McNemar chi2 = 60,128.40).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Critical Insight: Aggregate recall on held-out data is heavily dominated by volumetric DDoS flows (128,027 / 132,209 = 96.8%).</a:t>
            </a:r>
          </a:p>
        </p:txBody>
      </p:sp>
      <p:pic>
        <p:nvPicPr>
          <p:cNvPr id="5" name="Figure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700000" y="1700000"/>
            <a:ext cx="4800000" cy="42000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6" name="Footer"/>
          <p:cNvSpPr/>
          <p:nvPr/>
        </p:nvSpPr>
        <p:spPr>
          <a:xfrm>
            <a:off x="685800" y="6350000"/>
            <a:ext cx="10820400" cy="3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94A3B8"/>
                </a:solidFill>
              </a:rPr>
              <a:t>Cognisec AI Research Defense | Slide 12 of 19</a:t>
            </a:r>
          </a:p>
        </p:txBody>
      </p:sp>
    </p:spTree>
  </p:cSld>
</p:sld>
</file>

<file path=ppt/slides/slide1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85800" y="457200"/>
            <a:ext cx="1082040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/>
          <p:nvPr/>
        </p:nvSpPr>
        <p:spPr>
          <a:xfrm>
            <a:off x="685800" y="609600"/>
            <a:ext cx="10820400" cy="8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F172A"/>
                </a:solidFill>
              </a:rPr>
              <a:t>Per-Family Disaggregation: The Infiltration Finding</a:t>
            </a:r>
          </a:p>
        </p:txBody>
      </p:sp>
      <p:sp>
        <p:nvSpPr>
          <p:cNvPr id="4" name="Content"/>
          <p:cNvSpPr/>
          <p:nvPr/>
        </p:nvSpPr>
        <p:spPr>
          <a:xfrm>
            <a:off x="685800" y="1600000"/>
            <a:ext cx="10500000" cy="4600000"/>
          </a:xfrm>
          <a:prstGeom prst="rect">
            <a:avLst/>
          </a:prstGeom>
        </p:spPr>
        <p:txBody>
          <a:bodyPr/>
          <a:lstStyle/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DDoS (128,027 flows): XGBoost recall 63.01% (volumetric similarity to training DoS) vs. VAE 17.12%.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Web Attacks (2,180 flows): XGBoost recall 90.23% vs. VAE 0.00%.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Botnet Ares (1,966 flows): XGBoost recall 0.00% vs. VAE 0.56%.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Infiltration (36 flows): XGBoost achieved ZERO percent recall (0/36 detected)!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VAE Infiltration Recall: Successfully detected 47.22% (17/36 flows) without any prior training on attack patterns!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Core Takeaway: VAE detects subtle privilege escalation where supervised models are completely blind.</a:t>
            </a:r>
          </a:p>
        </p:txBody>
      </p:sp>
      <p:sp>
        <p:nvSpPr>
          <p:cNvPr id="6" name="Footer"/>
          <p:cNvSpPr/>
          <p:nvPr/>
        </p:nvSpPr>
        <p:spPr>
          <a:xfrm>
            <a:off x="685800" y="6350000"/>
            <a:ext cx="10820400" cy="3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94A3B8"/>
                </a:solidFill>
              </a:rPr>
              <a:t>Cognisec AI Research Defense | Slide 13 of 19</a:t>
            </a:r>
          </a:p>
        </p:txBody>
      </p:sp>
    </p:spTree>
  </p:cSld>
</p:sld>
</file>

<file path=ppt/slides/slide1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85800" y="457200"/>
            <a:ext cx="1082040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/>
          <p:nvPr/>
        </p:nvSpPr>
        <p:spPr>
          <a:xfrm>
            <a:off x="685800" y="609600"/>
            <a:ext cx="10820400" cy="8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F172A"/>
                </a:solidFill>
              </a:rPr>
              <a:t>Model Complementarity &amp; Threshold Sensitivity</a:t>
            </a:r>
          </a:p>
        </p:txBody>
      </p:sp>
      <p:sp>
        <p:nvSpPr>
          <p:cNvPr id="4" name="Content"/>
          <p:cNvSpPr/>
          <p:nvPr/>
        </p:nvSpPr>
        <p:spPr>
          <a:xfrm>
            <a:off x="685800" y="1600000"/>
            <a:ext cx="10500000" cy="4600000"/>
          </a:xfrm>
          <a:prstGeom prst="rect">
            <a:avLst/>
          </a:prstGeom>
        </p:spPr>
        <p:txBody>
          <a:bodyPr/>
          <a:lstStyle/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Mutual Detection Breakdown (132,209 Held-Out Attacks):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- Both Detected: 21,521 flows (16.28%)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- XGBoost Only: 61,114 flows (46.23%, overwhelmingly DDoS)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- VAE Only: 420 flows (0.32%, including stealth Infiltration)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- Both Missed: 49,154 flows (37.18%)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Threshold Trade-off (Exp C): Relaxing VAE false-alarm budget from 1% to 10% increases recall from 16.6% to 93.7%.</a:t>
            </a:r>
          </a:p>
        </p:txBody>
      </p:sp>
      <p:sp>
        <p:nvSpPr>
          <p:cNvPr id="6" name="Footer"/>
          <p:cNvSpPr/>
          <p:nvPr/>
        </p:nvSpPr>
        <p:spPr>
          <a:xfrm>
            <a:off x="685800" y="6350000"/>
            <a:ext cx="10820400" cy="3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94A3B8"/>
                </a:solidFill>
              </a:rPr>
              <a:t>Cognisec AI Research Defense | Slide 14 of 19</a:t>
            </a:r>
          </a:p>
        </p:txBody>
      </p:sp>
    </p:spTree>
  </p:cSld>
</p:sld>
</file>

<file path=ppt/slides/slide1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85800" y="457200"/>
            <a:ext cx="1082040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/>
          <p:nvPr/>
        </p:nvSpPr>
        <p:spPr>
          <a:xfrm>
            <a:off x="685800" y="609600"/>
            <a:ext cx="10820400" cy="8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F172A"/>
                </a:solidFill>
              </a:rPr>
              <a:t>Cognisec AI Application Architecture</a:t>
            </a:r>
          </a:p>
        </p:txBody>
      </p:sp>
      <p:sp>
        <p:nvSpPr>
          <p:cNvPr id="4" name="Content"/>
          <p:cNvSpPr/>
          <p:nvPr/>
        </p:nvSpPr>
        <p:spPr>
          <a:xfrm>
            <a:off x="685800" y="1600000"/>
            <a:ext cx="5800000" cy="4600000"/>
          </a:xfrm>
          <a:prstGeom prst="rect">
            <a:avLst/>
          </a:prstGeom>
        </p:spPr>
        <p:txBody>
          <a:bodyPr/>
          <a:lstStyle/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Decoupled Stack: Python Flask REST backend with modular HTML5, CSS3, and ES6 JavaScript frontend.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Inference Pipeline: Pre-flight schema validation -&gt; robust imputation -&gt; model inference -&gt; structured JSON response.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Offline Flow Batch Analysis: Accurately scoped to CSV flow records extracted from PCAP (no false live-capture claims).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Sub-millisecond Throughput: XGBoost averages 0.49 microseconds/flow; VAE averages 5.22 microseconds/flow.</a:t>
            </a:r>
          </a:p>
        </p:txBody>
      </p:sp>
      <p:pic>
        <p:nvPicPr>
          <p:cNvPr id="5" name="Figure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700000" y="1700000"/>
            <a:ext cx="4800000" cy="42000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6" name="Footer"/>
          <p:cNvSpPr/>
          <p:nvPr/>
        </p:nvSpPr>
        <p:spPr>
          <a:xfrm>
            <a:off x="685800" y="6350000"/>
            <a:ext cx="10820400" cy="3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94A3B8"/>
                </a:solidFill>
              </a:rPr>
              <a:t>Cognisec AI Research Defense | Slide 15 of 19</a:t>
            </a:r>
          </a:p>
        </p:txBody>
      </p:sp>
    </p:spTree>
  </p:cSld>
</p:sld>
</file>

<file path=ppt/slides/slide16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85800" y="457200"/>
            <a:ext cx="1082040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/>
          <p:nvPr/>
        </p:nvSpPr>
        <p:spPr>
          <a:xfrm>
            <a:off x="685800" y="609600"/>
            <a:ext cx="10820400" cy="8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F172A"/>
                </a:solidFill>
              </a:rPr>
              <a:t>Live Application Demonstration &amp; Verification</a:t>
            </a:r>
          </a:p>
        </p:txBody>
      </p:sp>
      <p:sp>
        <p:nvSpPr>
          <p:cNvPr id="4" name="Content"/>
          <p:cNvSpPr/>
          <p:nvPr/>
        </p:nvSpPr>
        <p:spPr>
          <a:xfrm>
            <a:off x="685800" y="1600000"/>
            <a:ext cx="5800000" cy="4600000"/>
          </a:xfrm>
          <a:prstGeom prst="rect">
            <a:avLst/>
          </a:prstGeom>
        </p:spPr>
        <p:txBody>
          <a:bodyPr/>
          <a:lstStyle/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Fully verified across 18 automated regression unit and integration tests (tests/ passing 18/18).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Interactive Traffic Analysis view performing automatic schema alignment on authentic CICIDS2017 flow batches.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Dual Model Inspection: Side-by-side display of XGBoost probabilities and VAE reconstruction anomaly scores.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Interactive Research Dashboards rendering empirical ROC/PR curves and threshold sensitivity curves.</a:t>
            </a:r>
          </a:p>
        </p:txBody>
      </p:sp>
      <p:pic>
        <p:nvPicPr>
          <p:cNvPr id="5" name="Figure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700000" y="1700000"/>
            <a:ext cx="4800000" cy="4200000"/>
          </a:xfrm>
          <a:prstGeom prst="rect">
            <a:avLst/>
          </a:prstGeom>
          <a:ln w="12700">
            <a:solidFill>
              <a:srgbClr val="CBD5E1"/>
            </a:solidFill>
          </a:ln>
        </p:spPr>
      </p:pic>
      <p:sp>
        <p:nvSpPr>
          <p:cNvPr id="6" name="Footer"/>
          <p:cNvSpPr/>
          <p:nvPr/>
        </p:nvSpPr>
        <p:spPr>
          <a:xfrm>
            <a:off x="685800" y="6350000"/>
            <a:ext cx="10820400" cy="3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94A3B8"/>
                </a:solidFill>
              </a:rPr>
              <a:t>Cognisec AI Research Defense | Slide 16 of 19</a:t>
            </a:r>
          </a:p>
        </p:txBody>
      </p:sp>
    </p:spTree>
  </p:cSld>
</p:sld>
</file>

<file path=ppt/slides/slide17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85800" y="457200"/>
            <a:ext cx="1082040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/>
          <p:nvPr/>
        </p:nvSpPr>
        <p:spPr>
          <a:xfrm>
            <a:off x="685800" y="609600"/>
            <a:ext cx="10820400" cy="8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F172A"/>
                </a:solidFill>
              </a:rPr>
              <a:t>Research Limitations &amp; Threats to Validity</a:t>
            </a:r>
          </a:p>
        </p:txBody>
      </p:sp>
      <p:sp>
        <p:nvSpPr>
          <p:cNvPr id="4" name="Content"/>
          <p:cNvSpPr/>
          <p:nvPr/>
        </p:nvSpPr>
        <p:spPr>
          <a:xfrm>
            <a:off x="685800" y="1600000"/>
            <a:ext cx="10500000" cy="4600000"/>
          </a:xfrm>
          <a:prstGeom prst="rect">
            <a:avLst/>
          </a:prstGeom>
        </p:spPr>
        <p:txBody>
          <a:bodyPr/>
          <a:lstStyle/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1. Benchmark Limitations: CICIDS2017 reflects 2017 testbed conditions; does not contain TLS 1.3 encrypted malware.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2. Held-Out Proxy: An experimentally held-out family within a testbed is not identical to a novel real-world zero-day exploit.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3. Small Sample Size: Infiltration comprises only 36 flows; high percentage recall carries wider variance.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4. Offline Flow Formulation: Requires upstream flow summarization; not evaluated as a streaming kernel packet monitor.</a:t>
            </a:r>
          </a:p>
        </p:txBody>
      </p:sp>
      <p:sp>
        <p:nvSpPr>
          <p:cNvPr id="6" name="Footer"/>
          <p:cNvSpPr/>
          <p:nvPr/>
        </p:nvSpPr>
        <p:spPr>
          <a:xfrm>
            <a:off x="685800" y="6350000"/>
            <a:ext cx="10820400" cy="3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94A3B8"/>
                </a:solidFill>
              </a:rPr>
              <a:t>Cognisec AI Research Defense | Slide 17 of 19</a:t>
            </a:r>
          </a:p>
        </p:txBody>
      </p:sp>
    </p:spTree>
  </p:cSld>
</p:sld>
</file>

<file path=ppt/slides/slide18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85800" y="457200"/>
            <a:ext cx="1082040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/>
          <p:nvPr/>
        </p:nvSpPr>
        <p:spPr>
          <a:xfrm>
            <a:off x="685800" y="609600"/>
            <a:ext cx="10820400" cy="8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F172A"/>
                </a:solidFill>
              </a:rPr>
              <a:t>Conclusions &amp; Future Work</a:t>
            </a:r>
          </a:p>
        </p:txBody>
      </p:sp>
      <p:sp>
        <p:nvSpPr>
          <p:cNvPr id="4" name="Content"/>
          <p:cNvSpPr/>
          <p:nvPr/>
        </p:nvSpPr>
        <p:spPr>
          <a:xfrm>
            <a:off x="685800" y="1600000"/>
            <a:ext cx="10500000" cy="4600000"/>
          </a:xfrm>
          <a:prstGeom prst="rect">
            <a:avLst/>
          </a:prstGeom>
        </p:spPr>
        <p:txBody>
          <a:bodyPr/>
          <a:lstStyle/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1. Supervised XGBoost remains essential for high-throughput frontline detection of known attack vectors.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2. PyTorch VAE provides vital orthogonal security value for detecting stealthy zero-day attacks that evade discriminative boundaries.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3. Optimal Architecture: A hybrid multi-tiered NIDS routing standard traffic through XGBoost and escalating low-confidence flows to a VAE.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4. Future Work: Real-time eBPF kernel flow extraction, streaming online VAE adaptation, and multi-tier ensemble fusion.</a:t>
            </a:r>
          </a:p>
        </p:txBody>
      </p:sp>
      <p:sp>
        <p:nvSpPr>
          <p:cNvPr id="6" name="Footer"/>
          <p:cNvSpPr/>
          <p:nvPr/>
        </p:nvSpPr>
        <p:spPr>
          <a:xfrm>
            <a:off x="685800" y="6350000"/>
            <a:ext cx="10820400" cy="3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94A3B8"/>
                </a:solidFill>
              </a:rPr>
              <a:t>Cognisec AI Research Defense | Slide 18 of 19</a:t>
            </a:r>
          </a:p>
        </p:txBody>
      </p:sp>
    </p:spTree>
  </p:cSld>
</p:sld>
</file>

<file path=ppt/slides/slide19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ccent"/>
          <p:cNvSpPr/>
          <p:nvPr/>
        </p:nvSpPr>
        <p:spPr>
          <a:xfrm>
            <a:off x="685800" y="457200"/>
            <a:ext cx="10820400" cy="45720"/>
          </a:xfrm>
          <a:prstGeom prst="rect">
            <a:avLst/>
          </a:prstGeom>
          <a:solidFill>
            <a:srgbClr val="2563EB"/>
          </a:solidFill>
        </p:spPr>
      </p:sp>
      <p:sp>
        <p:nvSpPr>
          <p:cNvPr id="3" name="Title"/>
          <p:cNvSpPr/>
          <p:nvPr/>
        </p:nvSpPr>
        <p:spPr>
          <a:xfrm>
            <a:off x="685800" y="609600"/>
            <a:ext cx="10820400" cy="800000"/>
          </a:xfrm>
          <a:prstGeom prst="rect">
            <a:avLst/>
          </a:prstGeom>
        </p:spPr>
        <p:txBody>
          <a:bodyPr/>
          <a:lstStyle/>
          <a:p>
            <a:r>
              <a:rPr lang="en-US" sz="2800" b="1">
                <a:solidFill>
                  <a:srgbClr val="0F172A"/>
                </a:solidFill>
              </a:rPr>
              <a:t>References</a:t>
            </a:r>
          </a:p>
        </p:txBody>
      </p:sp>
      <p:sp>
        <p:nvSpPr>
          <p:cNvPr id="4" name="Content"/>
          <p:cNvSpPr/>
          <p:nvPr/>
        </p:nvSpPr>
        <p:spPr>
          <a:xfrm>
            <a:off x="685800" y="1600000"/>
            <a:ext cx="10500000" cy="4600000"/>
          </a:xfrm>
          <a:prstGeom prst="rect">
            <a:avLst/>
          </a:prstGeom>
        </p:spPr>
        <p:txBody>
          <a:bodyPr/>
          <a:lstStyle/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Sharafaldin, I., Lashkari, A. H., &amp; Ghorbani, A. A. (2018). 'Toward Generating a New Intrusion Detection Dataset and Intrusion Traffic Characterization.' ICISSP, 108-116. DOI: 10.5220/0006639801080116.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Chen, T., &amp; Guestrin, C. (2016). 'XGBoost: A Scalable Tree Boosting System.' ACM SIGKDD, 785-794.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Kingma, D. P., &amp; Welling, M. (2013). 'Auto-Encoding Variational Bayes.' arXiv:1312.6114.</a:t>
            </a:r>
          </a:p>
          <a:p>
            <a:pPr lvl="0" marL="285750">
              <a:buFont typeface="Arial"/>
              <a:buChar char="•"/>
            </a:pPr>
            <a:r>
              <a:rPr lang="en-US" sz="1500">
                <a:solidFill>
                  <a:srgbClr val="334155"/>
                </a:solidFill>
              </a:rPr>
              <a:t>Official CICIDS2017 Repository: https://www.unb.ca/cic/datasets/ids-2017.html</a:t>
            </a:r>
          </a:p>
        </p:txBody>
      </p:sp>
      <p:sp>
        <p:nvSpPr>
          <p:cNvPr id="6" name="Footer"/>
          <p:cNvSpPr/>
          <p:nvPr/>
        </p:nvSpPr>
        <p:spPr>
          <a:xfrm>
            <a:off x="685800" y="6350000"/>
            <a:ext cx="10820400" cy="300000"/>
          </a:xfrm>
          <a:prstGeom prst="rect">
            <a:avLst/>
          </a:prstGeom>
        </p:spPr>
        <p:txBody>
          <a:bodyPr/>
          <a:lstStyle/>
          <a:p>
            <a:r>
              <a:rPr lang="en-US" sz="1000">
                <a:solidFill>
                  <a:srgbClr val="94A3B8"/>
                </a:solidFill>
              </a:rPr>
              <a:t>Cognisec AI Research Defense | Slide 19 of 19</a:t>
            </a:r>
          </a:p>
        </p:txBody>
      </p:sp>
    </p:spTree>
  </p:cSld>
</p:sld>
</file>

<file path=ppt/theme/theme1.xml><?xml version="1.0" encoding="utf-8"?>
<a:theme xmlns:a="http://schemas.openxmlformats.org/drawingml/2006/main" name="CognisecTheme">
  <a:themeElements>
    <a:clrScheme name="Cognisec">
      <a:dk1>
        <a:srgbClr val="0F172A"/>
      </a:dk1>
      <a:lt1>
        <a:srgbClr val="FFFFFF"/>
      </a:lt1>
      <a:dk2>
        <a:srgbClr val="1E293B"/>
      </a:dk2>
      <a:lt2>
        <a:srgbClr val="F8FAFC"/>
      </a:lt2>
      <a:accent1>
        <a:srgbClr val="2563EB"/>
      </a:accent1>
      <a:accent2>
        <a:srgbClr val="4F46E5"/>
      </a:accent2>
      <a:accent3>
        <a:srgbClr val="0D9488"/>
      </a:accent3>
      <a:accent4>
        <a:srgbClr val="E11D48"/>
      </a:accent4>
      <a:accent5>
        <a:srgbClr val="D97706"/>
      </a:accent5>
      <a:accent6>
        <a:srgbClr val="64748B"/>
      </a:accent6>
      <a:hlink>
        <a:srgbClr val="2563EB"/>
      </a:hlink>
      <a:folHlink>
        <a:srgbClr val="4F46E5"/>
      </a:folHlink>
    </a:clrScheme>
    <a:fontScheme name="Inter">
      <a:majorFont>
        <a:latin typeface="Segoe UI"/>
      </a:majorFont>
      <a:minorFont>
        <a:latin typeface="Segoe UI"/>
      </a:minorFont>
    </a:fontScheme>
    <a:fmtScheme name="Office">
      <a:fillStyleLst>
        <a:solidFill>
          <a:schemeClr val="lt1"/>
        </a:solidFill>
      </a:fillStyleLst>
      <a:lnStyleLst>
        <a:ln w="9525">
          <a:solidFill>
            <a:schemeClr val="dk1"/>
          </a:solidFill>
        </a:ln>
      </a:lnStyleLst>
      <a:effectStyleLst>
        <a:effectStyle>
          <a:effectLst/>
        </a:effectStyle>
      </a:effectStyleLst>
      <a:bgFillStyleLst>
        <a:solidFill>
          <a:schemeClr val="lt1"/>
        </a:solidFill>
      </a:bgFillStyleLst>
    </a:fmtScheme>
  </a:themeElements>
</a:theme>
</file>